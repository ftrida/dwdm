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6A81F64A-2EBB-1168-CEFB-FE98ADA9AA15}">
          <p14:sldIdLst>
            <p14:sldId id="256"/>
          </p14:sldIdLst>
        </p14:section>
        <p14:section name="Overview" id="{1D96DB62-D3E9-709F-23B4-90D41BA640CE}">
          <p14:sldIdLst>
            <p14:sldId id="257"/>
          </p14:sldIdLst>
        </p14:section>
        <p14:section name="Modules" id="{2478ABBA-E791-46CD-7CE3-CBD2559030F1}">
          <p14:sldIdLst>
            <p14:sldId id="258"/>
            <p14:sldId id="259"/>
            <p14:sldId id="260"/>
            <p14:sldId id="261"/>
          </p14:sldIdLst>
        </p14:section>
        <p14:section name="Literature" id="{F735453D-D710-5D8E-2457-AC26683E71A4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4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437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640080" y="914400"/>
            <a:ext cx="658368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5" hasCustomPrompt="1"/>
          </p:nvPr>
        </p:nvSpPr>
        <p:spPr>
          <a:xfrm>
            <a:off x="640080" y="3291840"/>
            <a:ext cx="5943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4" hasCustomPrompt="1"/>
          </p:nvPr>
        </p:nvSpPr>
        <p:spPr>
          <a:xfrm>
            <a:off x="640080" y="914400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Web Market Intelligence System for Automatic Document Classification Using Web Mining, Text Analysis and Trend Discovery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type="body" idx="105" hasCustomPrompt="1"/>
          </p:nvPr>
        </p:nvSpPr>
        <p:spPr>
          <a:xfrm>
            <a:off x="640080" y="3291839"/>
            <a:ext cx="5943600" cy="1368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4"/>
                </a:solidFill>
              </a:rPr>
              <a:t>Presented by:</a:t>
            </a:r>
          </a:p>
          <a:p>
            <a:pPr marL="0" indent="0" algn="l">
              <a:buNone/>
            </a:pPr>
            <a:r>
              <a:rPr lang="en-US" dirty="0"/>
              <a:t>Rida</a:t>
            </a:r>
            <a:br>
              <a:rPr lang="en-US" dirty="0"/>
            </a:br>
            <a:r>
              <a:rPr lang="en-US" sz="1600" dirty="0">
                <a:solidFill>
                  <a:schemeClr val="accent4"/>
                </a:solidFill>
              </a:rPr>
              <a:t>Viyaa</a:t>
            </a:r>
            <a:br>
              <a:rPr lang="en-US" sz="1600" dirty="0">
                <a:solidFill>
                  <a:schemeClr val="accent4"/>
                </a:solidFill>
              </a:rPr>
            </a:br>
            <a:r>
              <a:rPr lang="en-US" sz="1600" dirty="0">
                <a:solidFill>
                  <a:schemeClr val="accent4"/>
                </a:solidFill>
              </a:rPr>
              <a:t>Arshiya</a:t>
            </a:r>
            <a:br>
              <a:rPr lang="en-US" sz="1600" dirty="0">
                <a:solidFill>
                  <a:schemeClr val="accent4"/>
                </a:solidFill>
              </a:rPr>
            </a:br>
            <a:r>
              <a:rPr lang="en-US" sz="1600" dirty="0">
                <a:solidFill>
                  <a:schemeClr val="accent4"/>
                </a:solidFill>
              </a:rPr>
              <a:t>Rakina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Introduction</a:t>
            </a:r>
            <a:endParaRPr lang="en-US" sz="3000" dirty="0"/>
          </a:p>
        </p:txBody>
      </p:sp>
      <p:sp>
        <p:nvSpPr>
          <p:cNvPr id="3" name="Intro text"/>
          <p:cNvSpPr txBox="1"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software application that collects information from websites, understands the text, automatically categorizes documents and highlights current market trends.</a:t>
            </a:r>
            <a:endParaRPr lang="en-US" sz="1600" dirty="0"/>
          </a:p>
        </p:txBody>
      </p:sp>
      <p:sp>
        <p:nvSpPr>
          <p:cNvPr id="4" name="Step 1 box"/>
          <p:cNvSpPr/>
          <p:nvPr/>
        </p:nvSpPr>
        <p:spPr>
          <a:xfrm>
            <a:off x="457200" y="1965960"/>
            <a:ext cx="146304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5" name="Step 1 text"/>
          <p:cNvSpPr txBox="1"/>
          <p:nvPr/>
        </p:nvSpPr>
        <p:spPr>
          <a:xfrm>
            <a:off x="457200" y="1965960"/>
            <a:ext cx="1463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Collect Data</a:t>
            </a:r>
            <a:endParaRPr lang="en-US" sz="2200" dirty="0"/>
          </a:p>
        </p:txBody>
      </p:sp>
      <p:sp>
        <p:nvSpPr>
          <p:cNvPr id="6" name="Arrow 1"/>
          <p:cNvSpPr/>
          <p:nvPr/>
        </p:nvSpPr>
        <p:spPr>
          <a:xfrm>
            <a:off x="1956816" y="2395728"/>
            <a:ext cx="164592" cy="201168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7" name="Step 2 box"/>
          <p:cNvSpPr/>
          <p:nvPr/>
        </p:nvSpPr>
        <p:spPr>
          <a:xfrm>
            <a:off x="2148840" y="1965960"/>
            <a:ext cx="146304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8" name="Step 2 text"/>
          <p:cNvSpPr txBox="1"/>
          <p:nvPr/>
        </p:nvSpPr>
        <p:spPr>
          <a:xfrm>
            <a:off x="2148840" y="1965960"/>
            <a:ext cx="1463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2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Clean Text</a:t>
            </a:r>
            <a:endParaRPr lang="en-US" sz="2200" dirty="0"/>
          </a:p>
        </p:txBody>
      </p:sp>
      <p:sp>
        <p:nvSpPr>
          <p:cNvPr id="9" name="Arrow 2"/>
          <p:cNvSpPr/>
          <p:nvPr/>
        </p:nvSpPr>
        <p:spPr>
          <a:xfrm>
            <a:off x="3648456" y="2395728"/>
            <a:ext cx="164592" cy="201168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0" name="Step 3 box"/>
          <p:cNvSpPr/>
          <p:nvPr/>
        </p:nvSpPr>
        <p:spPr>
          <a:xfrm>
            <a:off x="3840480" y="1965960"/>
            <a:ext cx="146304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11" name="Step 3 text"/>
          <p:cNvSpPr txBox="1"/>
          <p:nvPr/>
        </p:nvSpPr>
        <p:spPr>
          <a:xfrm>
            <a:off x="3840480" y="1965960"/>
            <a:ext cx="1463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3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Extract Features</a:t>
            </a:r>
            <a:endParaRPr lang="en-US" sz="2200" dirty="0"/>
          </a:p>
        </p:txBody>
      </p:sp>
      <p:sp>
        <p:nvSpPr>
          <p:cNvPr id="12" name="Arrow 3"/>
          <p:cNvSpPr/>
          <p:nvPr/>
        </p:nvSpPr>
        <p:spPr>
          <a:xfrm>
            <a:off x="5340096" y="2395728"/>
            <a:ext cx="164592" cy="201168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3" name="Step 4 box"/>
          <p:cNvSpPr/>
          <p:nvPr/>
        </p:nvSpPr>
        <p:spPr>
          <a:xfrm>
            <a:off x="5532120" y="1965960"/>
            <a:ext cx="146304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14" name="Step 4 text"/>
          <p:cNvSpPr txBox="1"/>
          <p:nvPr/>
        </p:nvSpPr>
        <p:spPr>
          <a:xfrm>
            <a:off x="5532120" y="1965960"/>
            <a:ext cx="1463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4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Classify</a:t>
            </a:r>
            <a:endParaRPr lang="en-US" sz="2200" dirty="0"/>
          </a:p>
        </p:txBody>
      </p:sp>
      <p:sp>
        <p:nvSpPr>
          <p:cNvPr id="15" name="Arrow 4"/>
          <p:cNvSpPr/>
          <p:nvPr/>
        </p:nvSpPr>
        <p:spPr>
          <a:xfrm>
            <a:off x="7031736" y="2395728"/>
            <a:ext cx="164592" cy="201168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6" name="Step 5 box"/>
          <p:cNvSpPr/>
          <p:nvPr/>
        </p:nvSpPr>
        <p:spPr>
          <a:xfrm>
            <a:off x="7223760" y="1965960"/>
            <a:ext cx="146304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17" name="Step 5 text"/>
          <p:cNvSpPr txBox="1"/>
          <p:nvPr/>
        </p:nvSpPr>
        <p:spPr>
          <a:xfrm>
            <a:off x="7223760" y="1965960"/>
            <a:ext cx="1463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5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Find Trends</a:t>
            </a:r>
            <a:endParaRPr lang="en-US" sz="2200" dirty="0"/>
          </a:p>
        </p:txBody>
      </p:sp>
      <p:sp>
        <p:nvSpPr>
          <p:cNvPr id="18" name="Example card"/>
          <p:cNvSpPr/>
          <p:nvPr/>
        </p:nvSpPr>
        <p:spPr>
          <a:xfrm>
            <a:off x="457200" y="3337560"/>
            <a:ext cx="822960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9" name="Example text"/>
          <p:cNvSpPr txBox="1"/>
          <p:nvPr/>
        </p:nvSpPr>
        <p:spPr>
          <a:xfrm>
            <a:off x="685800" y="3429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Example: smartphone market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Samsung article → Smartphones   |   Price increase → Pricing   |   New AI feature → Technology Trends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A dashboard then shows popular topics, top brands and changing interest over time.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Module 1: </a:t>
            </a:r>
            <a:r>
              <a:rPr lang="en-US" sz="2400" dirty="0"/>
              <a:t>Web Data Collection &amp; Preprocessing</a:t>
            </a:r>
          </a:p>
        </p:txBody>
      </p:sp>
      <p:sp>
        <p:nvSpPr>
          <p:cNvPr id="3" name="Module badge"/>
          <p:cNvSpPr/>
          <p:nvPr/>
        </p:nvSpPr>
        <p:spPr>
          <a:xfrm>
            <a:off x="8046720" y="320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number"/>
          <p:cNvSpPr txBox="1"/>
          <p:nvPr/>
        </p:nvSpPr>
        <p:spPr>
          <a:xfrm>
            <a:off x="804672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Does card"/>
          <p:cNvSpPr/>
          <p:nvPr/>
        </p:nvSpPr>
        <p:spPr>
          <a:xfrm>
            <a:off x="320040" y="1440180"/>
            <a:ext cx="397764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7" name="Does dot"/>
          <p:cNvSpPr/>
          <p:nvPr/>
        </p:nvSpPr>
        <p:spPr>
          <a:xfrm>
            <a:off x="548640" y="169621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Does head"/>
          <p:cNvSpPr txBox="1"/>
          <p:nvPr/>
        </p:nvSpPr>
        <p:spPr>
          <a:xfrm>
            <a:off x="822960" y="15773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it does</a:t>
            </a:r>
            <a:endParaRPr lang="en-US" sz="1800" dirty="0"/>
          </a:p>
        </p:txBody>
      </p:sp>
      <p:sp>
        <p:nvSpPr>
          <p:cNvPr id="9" name="Does body"/>
          <p:cNvSpPr txBox="1"/>
          <p:nvPr/>
        </p:nvSpPr>
        <p:spPr>
          <a:xfrm>
            <a:off x="548640" y="20802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Collects articles, news and other text from websites, then cleans the data.</a:t>
            </a:r>
            <a:endParaRPr lang="en-US" sz="1500" dirty="0"/>
          </a:p>
        </p:txBody>
      </p:sp>
      <p:sp>
        <p:nvSpPr>
          <p:cNvPr id="10" name="Example card"/>
          <p:cNvSpPr/>
          <p:nvPr/>
        </p:nvSpPr>
        <p:spPr>
          <a:xfrm>
            <a:off x="4572000" y="1440180"/>
            <a:ext cx="397764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1" name="Example dot"/>
          <p:cNvSpPr/>
          <p:nvPr/>
        </p:nvSpPr>
        <p:spPr>
          <a:xfrm>
            <a:off x="4800600" y="169621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Example head"/>
          <p:cNvSpPr txBox="1"/>
          <p:nvPr/>
        </p:nvSpPr>
        <p:spPr>
          <a:xfrm>
            <a:off x="5074920" y="15773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Example</a:t>
            </a:r>
            <a:endParaRPr lang="en-US" sz="1800" dirty="0"/>
          </a:p>
        </p:txBody>
      </p:sp>
      <p:sp>
        <p:nvSpPr>
          <p:cNvPr id="13" name="Example body"/>
          <p:cNvSpPr txBox="1"/>
          <p:nvPr/>
        </p:nvSpPr>
        <p:spPr>
          <a:xfrm>
            <a:off x="4800600" y="20802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Collecting smartphone news from technology sites; removing duplicates, unnecessary symbols and unwanted text.</a:t>
            </a:r>
            <a:endParaRPr lang="en-US" sz="1500" dirty="0"/>
          </a:p>
        </p:txBody>
      </p:sp>
      <p:sp>
        <p:nvSpPr>
          <p:cNvPr id="14" name="Tech label"/>
          <p:cNvSpPr txBox="1"/>
          <p:nvPr/>
        </p:nvSpPr>
        <p:spPr>
          <a:xfrm>
            <a:off x="45720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Technologies</a:t>
            </a:r>
            <a:endParaRPr lang="en-US" sz="1400" dirty="0"/>
          </a:p>
        </p:txBody>
      </p:sp>
      <p:sp>
        <p:nvSpPr>
          <p:cNvPr id="15" name="Chip Python"/>
          <p:cNvSpPr/>
          <p:nvPr/>
        </p:nvSpPr>
        <p:spPr>
          <a:xfrm>
            <a:off x="457200" y="420624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</p:sp>
      <p:sp>
        <p:nvSpPr>
          <p:cNvPr id="16" name="Chip text Python"/>
          <p:cNvSpPr txBox="1"/>
          <p:nvPr/>
        </p:nvSpPr>
        <p:spPr>
          <a:xfrm>
            <a:off x="45720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Python</a:t>
            </a:r>
            <a:endParaRPr lang="en-US" sz="1400" dirty="0"/>
          </a:p>
        </p:txBody>
      </p:sp>
      <p:sp>
        <p:nvSpPr>
          <p:cNvPr id="17" name="Chip BeautifulSoup"/>
          <p:cNvSpPr/>
          <p:nvPr/>
        </p:nvSpPr>
        <p:spPr>
          <a:xfrm>
            <a:off x="2560320" y="420624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</p:sp>
      <p:sp>
        <p:nvSpPr>
          <p:cNvPr id="18" name="Chip text BeautifulSoup"/>
          <p:cNvSpPr txBox="1"/>
          <p:nvPr/>
        </p:nvSpPr>
        <p:spPr>
          <a:xfrm>
            <a:off x="256032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BeautifulSoup</a:t>
            </a:r>
            <a:endParaRPr lang="en-US" sz="1400" dirty="0"/>
          </a:p>
        </p:txBody>
      </p:sp>
      <p:sp>
        <p:nvSpPr>
          <p:cNvPr id="19" name="Chip Requests"/>
          <p:cNvSpPr/>
          <p:nvPr/>
        </p:nvSpPr>
        <p:spPr>
          <a:xfrm>
            <a:off x="4663440" y="420624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</p:sp>
      <p:sp>
        <p:nvSpPr>
          <p:cNvPr id="20" name="Chip text Requests"/>
          <p:cNvSpPr txBox="1"/>
          <p:nvPr/>
        </p:nvSpPr>
        <p:spPr>
          <a:xfrm>
            <a:off x="466344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Requests</a:t>
            </a:r>
            <a:endParaRPr lang="en-US" sz="1400" dirty="0"/>
          </a:p>
        </p:txBody>
      </p:sp>
      <p:sp>
        <p:nvSpPr>
          <p:cNvPr id="21" name="Chip Pandas"/>
          <p:cNvSpPr/>
          <p:nvPr/>
        </p:nvSpPr>
        <p:spPr>
          <a:xfrm>
            <a:off x="6766560" y="420624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</p:sp>
      <p:sp>
        <p:nvSpPr>
          <p:cNvPr id="22" name="Chip text Pandas"/>
          <p:cNvSpPr txBox="1"/>
          <p:nvPr/>
        </p:nvSpPr>
        <p:spPr>
          <a:xfrm>
            <a:off x="676656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Pandas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Module 2: T</a:t>
            </a:r>
            <a:r>
              <a:rPr lang="en-US" sz="2400" dirty="0"/>
              <a:t>ext Mining &amp; Feature Extraction</a:t>
            </a:r>
          </a:p>
        </p:txBody>
      </p:sp>
      <p:sp>
        <p:nvSpPr>
          <p:cNvPr id="3" name="Module badge"/>
          <p:cNvSpPr/>
          <p:nvPr/>
        </p:nvSpPr>
        <p:spPr>
          <a:xfrm>
            <a:off x="8046720" y="320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number"/>
          <p:cNvSpPr txBox="1"/>
          <p:nvPr/>
        </p:nvSpPr>
        <p:spPr>
          <a:xfrm>
            <a:off x="804672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6" name="Does card"/>
          <p:cNvSpPr/>
          <p:nvPr/>
        </p:nvSpPr>
        <p:spPr>
          <a:xfrm>
            <a:off x="457200" y="1440180"/>
            <a:ext cx="397764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7" name="Does dot"/>
          <p:cNvSpPr/>
          <p:nvPr/>
        </p:nvSpPr>
        <p:spPr>
          <a:xfrm>
            <a:off x="685800" y="169621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Does head"/>
          <p:cNvSpPr txBox="1"/>
          <p:nvPr/>
        </p:nvSpPr>
        <p:spPr>
          <a:xfrm>
            <a:off x="960120" y="15773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it does</a:t>
            </a:r>
            <a:endParaRPr lang="en-US" sz="1800" dirty="0"/>
          </a:p>
        </p:txBody>
      </p:sp>
      <p:sp>
        <p:nvSpPr>
          <p:cNvPr id="9" name="Does body"/>
          <p:cNvSpPr txBox="1"/>
          <p:nvPr/>
        </p:nvSpPr>
        <p:spPr>
          <a:xfrm>
            <a:off x="685800" y="20802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Identifies important words and useful information so the computer can analyze the text.</a:t>
            </a:r>
            <a:endParaRPr lang="en-US" sz="1500" dirty="0"/>
          </a:p>
        </p:txBody>
      </p:sp>
      <p:sp>
        <p:nvSpPr>
          <p:cNvPr id="10" name="Example card"/>
          <p:cNvSpPr/>
          <p:nvPr/>
        </p:nvSpPr>
        <p:spPr>
          <a:xfrm>
            <a:off x="4709160" y="1440180"/>
            <a:ext cx="397764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1" name="Example dot"/>
          <p:cNvSpPr/>
          <p:nvPr/>
        </p:nvSpPr>
        <p:spPr>
          <a:xfrm>
            <a:off x="4937760" y="169621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Example head"/>
          <p:cNvSpPr txBox="1"/>
          <p:nvPr/>
        </p:nvSpPr>
        <p:spPr>
          <a:xfrm>
            <a:off x="5212080" y="15773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Example</a:t>
            </a:r>
            <a:endParaRPr lang="en-US" sz="1800" dirty="0"/>
          </a:p>
        </p:txBody>
      </p:sp>
      <p:sp>
        <p:nvSpPr>
          <p:cNvPr id="13" name="Example body"/>
          <p:cNvSpPr txBox="1"/>
          <p:nvPr/>
        </p:nvSpPr>
        <p:spPr>
          <a:xfrm>
            <a:off x="4937760" y="20802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From an article, the system picks out keywords such as Samsung, smartphone, price and AI.</a:t>
            </a:r>
            <a:endParaRPr lang="en-US" sz="1500" dirty="0"/>
          </a:p>
        </p:txBody>
      </p:sp>
      <p:sp>
        <p:nvSpPr>
          <p:cNvPr id="14" name="Tech label"/>
          <p:cNvSpPr txBox="1"/>
          <p:nvPr/>
        </p:nvSpPr>
        <p:spPr>
          <a:xfrm>
            <a:off x="45720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Technologies</a:t>
            </a:r>
            <a:endParaRPr lang="en-US" sz="1400" dirty="0"/>
          </a:p>
        </p:txBody>
      </p:sp>
      <p:sp>
        <p:nvSpPr>
          <p:cNvPr id="15" name="Chip Python"/>
          <p:cNvSpPr/>
          <p:nvPr/>
        </p:nvSpPr>
        <p:spPr>
          <a:xfrm>
            <a:off x="457200" y="420624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</p:sp>
      <p:sp>
        <p:nvSpPr>
          <p:cNvPr id="16" name="Chip text Python"/>
          <p:cNvSpPr txBox="1"/>
          <p:nvPr/>
        </p:nvSpPr>
        <p:spPr>
          <a:xfrm>
            <a:off x="45720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Python</a:t>
            </a:r>
            <a:endParaRPr lang="en-US" sz="1400" dirty="0"/>
          </a:p>
        </p:txBody>
      </p:sp>
      <p:sp>
        <p:nvSpPr>
          <p:cNvPr id="17" name="Chip NLTK"/>
          <p:cNvSpPr/>
          <p:nvPr/>
        </p:nvSpPr>
        <p:spPr>
          <a:xfrm>
            <a:off x="2560320" y="420624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</p:sp>
      <p:sp>
        <p:nvSpPr>
          <p:cNvPr id="18" name="Chip text NLTK"/>
          <p:cNvSpPr txBox="1"/>
          <p:nvPr/>
        </p:nvSpPr>
        <p:spPr>
          <a:xfrm>
            <a:off x="256032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NLTK</a:t>
            </a:r>
            <a:endParaRPr lang="en-US" sz="1400" dirty="0"/>
          </a:p>
        </p:txBody>
      </p:sp>
      <p:sp>
        <p:nvSpPr>
          <p:cNvPr id="19" name="Chip Scikit-learn"/>
          <p:cNvSpPr/>
          <p:nvPr/>
        </p:nvSpPr>
        <p:spPr>
          <a:xfrm>
            <a:off x="4663440" y="420624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</p:sp>
      <p:sp>
        <p:nvSpPr>
          <p:cNvPr id="20" name="Chip text Scikit-learn"/>
          <p:cNvSpPr txBox="1"/>
          <p:nvPr/>
        </p:nvSpPr>
        <p:spPr>
          <a:xfrm>
            <a:off x="466344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Scikit-learn</a:t>
            </a:r>
            <a:endParaRPr lang="en-US" sz="1400" dirty="0"/>
          </a:p>
        </p:txBody>
      </p:sp>
      <p:sp>
        <p:nvSpPr>
          <p:cNvPr id="21" name="Chip TF-IDF"/>
          <p:cNvSpPr/>
          <p:nvPr/>
        </p:nvSpPr>
        <p:spPr>
          <a:xfrm>
            <a:off x="6766560" y="420624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</p:sp>
      <p:sp>
        <p:nvSpPr>
          <p:cNvPr id="22" name="Chip text TF-IDF"/>
          <p:cNvSpPr txBox="1"/>
          <p:nvPr/>
        </p:nvSpPr>
        <p:spPr>
          <a:xfrm>
            <a:off x="676656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TF-IDF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Module 3: </a:t>
            </a:r>
            <a:r>
              <a:rPr lang="en-US" sz="2400" dirty="0"/>
              <a:t>Automatic Document Classification</a:t>
            </a:r>
          </a:p>
        </p:txBody>
      </p:sp>
      <p:sp>
        <p:nvSpPr>
          <p:cNvPr id="3" name="Module badge"/>
          <p:cNvSpPr/>
          <p:nvPr/>
        </p:nvSpPr>
        <p:spPr>
          <a:xfrm>
            <a:off x="8046720" y="320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number"/>
          <p:cNvSpPr txBox="1"/>
          <p:nvPr/>
        </p:nvSpPr>
        <p:spPr>
          <a:xfrm>
            <a:off x="804672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6" name="Does card"/>
          <p:cNvSpPr/>
          <p:nvPr/>
        </p:nvSpPr>
        <p:spPr>
          <a:xfrm>
            <a:off x="457200" y="1440180"/>
            <a:ext cx="397764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7" name="Does dot"/>
          <p:cNvSpPr/>
          <p:nvPr/>
        </p:nvSpPr>
        <p:spPr>
          <a:xfrm>
            <a:off x="685800" y="169621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Does head"/>
          <p:cNvSpPr txBox="1"/>
          <p:nvPr/>
        </p:nvSpPr>
        <p:spPr>
          <a:xfrm>
            <a:off x="960120" y="15773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it does</a:t>
            </a:r>
            <a:endParaRPr lang="en-US" sz="1800" dirty="0"/>
          </a:p>
        </p:txBody>
      </p:sp>
      <p:sp>
        <p:nvSpPr>
          <p:cNvPr id="9" name="Does body"/>
          <p:cNvSpPr txBox="1"/>
          <p:nvPr/>
        </p:nvSpPr>
        <p:spPr>
          <a:xfrm>
            <a:off x="685800" y="20802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Automatically places documents into predefined categories based on their content.</a:t>
            </a:r>
            <a:endParaRPr lang="en-US" sz="1500" dirty="0"/>
          </a:p>
        </p:txBody>
      </p:sp>
      <p:sp>
        <p:nvSpPr>
          <p:cNvPr id="10" name="Example card"/>
          <p:cNvSpPr/>
          <p:nvPr/>
        </p:nvSpPr>
        <p:spPr>
          <a:xfrm>
            <a:off x="4709160" y="1440180"/>
            <a:ext cx="397764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1" name="Example dot"/>
          <p:cNvSpPr/>
          <p:nvPr/>
        </p:nvSpPr>
        <p:spPr>
          <a:xfrm>
            <a:off x="4937760" y="169621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Example head"/>
          <p:cNvSpPr txBox="1"/>
          <p:nvPr/>
        </p:nvSpPr>
        <p:spPr>
          <a:xfrm>
            <a:off x="5212080" y="15773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Example</a:t>
            </a:r>
            <a:endParaRPr lang="en-US" sz="1800" dirty="0"/>
          </a:p>
        </p:txBody>
      </p:sp>
      <p:sp>
        <p:nvSpPr>
          <p:cNvPr id="13" name="Example body"/>
          <p:cNvSpPr txBox="1"/>
          <p:nvPr/>
        </p:nvSpPr>
        <p:spPr>
          <a:xfrm>
            <a:off x="4937760" y="20802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launch article goes to Product Updates; an article about discounts goes to Pricing and Offers.</a:t>
            </a:r>
            <a:endParaRPr lang="en-US" sz="1500" dirty="0"/>
          </a:p>
        </p:txBody>
      </p:sp>
      <p:sp>
        <p:nvSpPr>
          <p:cNvPr id="14" name="Tech label"/>
          <p:cNvSpPr txBox="1"/>
          <p:nvPr/>
        </p:nvSpPr>
        <p:spPr>
          <a:xfrm>
            <a:off x="45720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Technologies</a:t>
            </a:r>
            <a:endParaRPr lang="en-US" sz="1400" dirty="0"/>
          </a:p>
        </p:txBody>
      </p:sp>
      <p:sp>
        <p:nvSpPr>
          <p:cNvPr id="15" name="Chip Python"/>
          <p:cNvSpPr/>
          <p:nvPr/>
        </p:nvSpPr>
        <p:spPr>
          <a:xfrm>
            <a:off x="457200" y="420624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</p:sp>
      <p:sp>
        <p:nvSpPr>
          <p:cNvPr id="16" name="Chip text Python"/>
          <p:cNvSpPr txBox="1"/>
          <p:nvPr/>
        </p:nvSpPr>
        <p:spPr>
          <a:xfrm>
            <a:off x="45720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Python</a:t>
            </a:r>
            <a:endParaRPr lang="en-US" sz="1400" dirty="0"/>
          </a:p>
        </p:txBody>
      </p:sp>
      <p:sp>
        <p:nvSpPr>
          <p:cNvPr id="17" name="Chip Scikit-learn"/>
          <p:cNvSpPr/>
          <p:nvPr/>
        </p:nvSpPr>
        <p:spPr>
          <a:xfrm>
            <a:off x="2560320" y="420624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</p:sp>
      <p:sp>
        <p:nvSpPr>
          <p:cNvPr id="18" name="Chip text Scikit-learn"/>
          <p:cNvSpPr txBox="1"/>
          <p:nvPr/>
        </p:nvSpPr>
        <p:spPr>
          <a:xfrm>
            <a:off x="256032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Scikit-learn</a:t>
            </a:r>
            <a:endParaRPr lang="en-US" sz="1400" dirty="0"/>
          </a:p>
        </p:txBody>
      </p:sp>
      <p:sp>
        <p:nvSpPr>
          <p:cNvPr id="19" name="Chip SVM"/>
          <p:cNvSpPr/>
          <p:nvPr/>
        </p:nvSpPr>
        <p:spPr>
          <a:xfrm>
            <a:off x="4663440" y="420624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</p:sp>
      <p:sp>
        <p:nvSpPr>
          <p:cNvPr id="20" name="Chip text SVM"/>
          <p:cNvSpPr txBox="1"/>
          <p:nvPr/>
        </p:nvSpPr>
        <p:spPr>
          <a:xfrm>
            <a:off x="466344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SVM</a:t>
            </a:r>
            <a:endParaRPr lang="en-US" sz="1400" dirty="0"/>
          </a:p>
        </p:txBody>
      </p:sp>
      <p:sp>
        <p:nvSpPr>
          <p:cNvPr id="21" name="Chip TF-IDF"/>
          <p:cNvSpPr/>
          <p:nvPr/>
        </p:nvSpPr>
        <p:spPr>
          <a:xfrm>
            <a:off x="6766560" y="420624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</p:sp>
      <p:sp>
        <p:nvSpPr>
          <p:cNvPr id="22" name="Chip text TF-IDF"/>
          <p:cNvSpPr txBox="1"/>
          <p:nvPr/>
        </p:nvSpPr>
        <p:spPr>
          <a:xfrm>
            <a:off x="676656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TF-IDF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Module 4: </a:t>
            </a:r>
            <a:r>
              <a:rPr lang="en-US" sz="2400" dirty="0"/>
              <a:t>Trend Discovery &amp; Market Intelligence Visualization</a:t>
            </a:r>
          </a:p>
        </p:txBody>
      </p:sp>
      <p:sp>
        <p:nvSpPr>
          <p:cNvPr id="3" name="Module badge"/>
          <p:cNvSpPr/>
          <p:nvPr/>
        </p:nvSpPr>
        <p:spPr>
          <a:xfrm>
            <a:off x="8046720" y="320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number"/>
          <p:cNvSpPr txBox="1"/>
          <p:nvPr/>
        </p:nvSpPr>
        <p:spPr>
          <a:xfrm>
            <a:off x="804672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6" name="Does card"/>
          <p:cNvSpPr/>
          <p:nvPr/>
        </p:nvSpPr>
        <p:spPr>
          <a:xfrm>
            <a:off x="457200" y="1440180"/>
            <a:ext cx="397764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7" name="Does dot"/>
          <p:cNvSpPr/>
          <p:nvPr/>
        </p:nvSpPr>
        <p:spPr>
          <a:xfrm>
            <a:off x="685800" y="169621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Does head"/>
          <p:cNvSpPr txBox="1"/>
          <p:nvPr/>
        </p:nvSpPr>
        <p:spPr>
          <a:xfrm>
            <a:off x="960120" y="15773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it does</a:t>
            </a:r>
            <a:endParaRPr lang="en-US" sz="1800" dirty="0"/>
          </a:p>
        </p:txBody>
      </p:sp>
      <p:sp>
        <p:nvSpPr>
          <p:cNvPr id="9" name="Does body"/>
          <p:cNvSpPr txBox="1"/>
          <p:nvPr/>
        </p:nvSpPr>
        <p:spPr>
          <a:xfrm>
            <a:off x="685800" y="20802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Finds popular topics and changes in interest over time, and shows them in charts and graphs.</a:t>
            </a:r>
            <a:endParaRPr lang="en-US" sz="1500" dirty="0"/>
          </a:p>
        </p:txBody>
      </p:sp>
      <p:sp>
        <p:nvSpPr>
          <p:cNvPr id="10" name="Example card"/>
          <p:cNvSpPr/>
          <p:nvPr/>
        </p:nvSpPr>
        <p:spPr>
          <a:xfrm>
            <a:off x="4709160" y="1440180"/>
            <a:ext cx="397764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1" name="Example dot"/>
          <p:cNvSpPr/>
          <p:nvPr/>
        </p:nvSpPr>
        <p:spPr>
          <a:xfrm>
            <a:off x="4937760" y="169621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Example head"/>
          <p:cNvSpPr txBox="1"/>
          <p:nvPr/>
        </p:nvSpPr>
        <p:spPr>
          <a:xfrm>
            <a:off x="5212080" y="15773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Example</a:t>
            </a:r>
            <a:endParaRPr lang="en-US" sz="1800" dirty="0"/>
          </a:p>
        </p:txBody>
      </p:sp>
      <p:sp>
        <p:nvSpPr>
          <p:cNvPr id="13" name="Example body"/>
          <p:cNvSpPr txBox="1"/>
          <p:nvPr/>
        </p:nvSpPr>
        <p:spPr>
          <a:xfrm>
            <a:off x="4937760" y="20802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Showing that articles about AI smartphones have grown over the last three months.</a:t>
            </a:r>
            <a:endParaRPr lang="en-US" sz="1500" dirty="0"/>
          </a:p>
        </p:txBody>
      </p:sp>
      <p:sp>
        <p:nvSpPr>
          <p:cNvPr id="14" name="Tech label"/>
          <p:cNvSpPr txBox="1"/>
          <p:nvPr/>
        </p:nvSpPr>
        <p:spPr>
          <a:xfrm>
            <a:off x="45720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Technologies</a:t>
            </a:r>
            <a:endParaRPr lang="en-US" sz="1400" dirty="0"/>
          </a:p>
        </p:txBody>
      </p:sp>
      <p:sp>
        <p:nvSpPr>
          <p:cNvPr id="15" name="Chip Pandas"/>
          <p:cNvSpPr/>
          <p:nvPr/>
        </p:nvSpPr>
        <p:spPr>
          <a:xfrm>
            <a:off x="457200" y="420624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</p:sp>
      <p:sp>
        <p:nvSpPr>
          <p:cNvPr id="16" name="Chip text Pandas"/>
          <p:cNvSpPr txBox="1"/>
          <p:nvPr/>
        </p:nvSpPr>
        <p:spPr>
          <a:xfrm>
            <a:off x="45720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Pandas</a:t>
            </a:r>
            <a:endParaRPr lang="en-US" sz="1400" dirty="0"/>
          </a:p>
        </p:txBody>
      </p:sp>
      <p:sp>
        <p:nvSpPr>
          <p:cNvPr id="17" name="Chip Matplotlib"/>
          <p:cNvSpPr/>
          <p:nvPr/>
        </p:nvSpPr>
        <p:spPr>
          <a:xfrm>
            <a:off x="2560320" y="420624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</p:sp>
      <p:sp>
        <p:nvSpPr>
          <p:cNvPr id="18" name="Chip text Matplotlib"/>
          <p:cNvSpPr txBox="1"/>
          <p:nvPr/>
        </p:nvSpPr>
        <p:spPr>
          <a:xfrm>
            <a:off x="256032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Matplotlib</a:t>
            </a:r>
            <a:endParaRPr lang="en-US" sz="1400" dirty="0"/>
          </a:p>
        </p:txBody>
      </p:sp>
      <p:sp>
        <p:nvSpPr>
          <p:cNvPr id="19" name="Chip Plotly"/>
          <p:cNvSpPr/>
          <p:nvPr/>
        </p:nvSpPr>
        <p:spPr>
          <a:xfrm>
            <a:off x="4663440" y="420624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</p:sp>
      <p:sp>
        <p:nvSpPr>
          <p:cNvPr id="20" name="Chip text Plotly"/>
          <p:cNvSpPr txBox="1"/>
          <p:nvPr/>
        </p:nvSpPr>
        <p:spPr>
          <a:xfrm>
            <a:off x="466344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Plotly</a:t>
            </a:r>
            <a:endParaRPr lang="en-US" sz="1400" dirty="0"/>
          </a:p>
        </p:txBody>
      </p:sp>
      <p:sp>
        <p:nvSpPr>
          <p:cNvPr id="21" name="Chip Power BI"/>
          <p:cNvSpPr/>
          <p:nvPr/>
        </p:nvSpPr>
        <p:spPr>
          <a:xfrm>
            <a:off x="6766560" y="420624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</p:sp>
      <p:sp>
        <p:nvSpPr>
          <p:cNvPr id="22" name="Chip text Power BI"/>
          <p:cNvSpPr txBox="1"/>
          <p:nvPr/>
        </p:nvSpPr>
        <p:spPr>
          <a:xfrm>
            <a:off x="676656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Power BI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Literature Survey</a:t>
            </a:r>
            <a:endParaRPr lang="en-US" sz="3000" dirty="0"/>
          </a:p>
        </p:txBody>
      </p:sp>
      <p:graphicFrame>
        <p:nvGraphicFramePr>
          <p:cNvPr id="8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563875"/>
              </p:ext>
            </p:extLst>
          </p:nvPr>
        </p:nvGraphicFramePr>
        <p:xfrm>
          <a:off x="457200" y="1188720"/>
          <a:ext cx="8229600" cy="31089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Authors (Year)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Work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Relevance to this project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Salton &amp; Buckley (2026)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Term-weighting approaches in automatic text retrieval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Foundation of TF-IDF features (Module 2)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Joachims (2025)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Text categorization with Support Vector Machines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SVMs work well on high-dimensional text (Module 3)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Sebastiani (2025)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Machine learning in automated text categorization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Survey of classification methods and evaluation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Kosala &amp; Blockeel (2024)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Web mining research: a survey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Defines web content mining (Module 1)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Blei, Ng &amp; Jordan (2024)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Latent Dirichlet Allocation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Topic discovery for trend analysis (Module 4)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ketIntel">
  <a:themeElements>
    <a:clrScheme name="MarketIntel">
      <a:dk1>
        <a:srgbClr val="0B2545"/>
      </a:dk1>
      <a:lt1>
        <a:srgbClr val="FFFFFF"/>
      </a:lt1>
      <a:dk2>
        <a:srgbClr val="13315C"/>
      </a:dk2>
      <a:lt2>
        <a:srgbClr val="EEF4F8"/>
      </a:lt2>
      <a:accent1>
        <a:srgbClr val="0B7F78"/>
      </a:accent1>
      <a:accent2>
        <a:srgbClr val="F2A541"/>
      </a:accent2>
      <a:accent3>
        <a:srgbClr val="3E7CB1"/>
      </a:accent3>
      <a:accent4>
        <a:srgbClr val="8DA9C4"/>
      </a:accent4>
      <a:accent5>
        <a:srgbClr val="E4572E"/>
      </a:accent5>
      <a:accent6>
        <a:srgbClr val="5B6770"/>
      </a:accent6>
      <a:hlink>
        <a:srgbClr val="3E7CB1"/>
      </a:hlink>
      <a:folHlink>
        <a:srgbClr val="5B6770"/>
      </a:folHlink>
    </a:clrScheme>
    <a:fontScheme name="MarketInte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416</Words>
  <Application>Microsoft Office PowerPoint</Application>
  <PresentationFormat>On-screen Show (16:9)</PresentationFormat>
  <Paragraphs>94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MarketIntel</vt:lpstr>
      <vt:lpstr>Web Market Intelligence System for Automatic Document Classification Using Web Mining, Text Analysis and Trend Discovery</vt:lpstr>
      <vt:lpstr>Introduction</vt:lpstr>
      <vt:lpstr>Module 1: Web Data Collection &amp; Preprocessing</vt:lpstr>
      <vt:lpstr>Module 2: Text Mining &amp; Feature Extraction</vt:lpstr>
      <vt:lpstr>Module 3: Automatic Document Classification</vt:lpstr>
      <vt:lpstr>Module 4: Trend Discovery &amp; Market Intelligence Visualization</vt:lpstr>
      <vt:lpstr>Literature Survey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Market Intelligence System</dc:title>
  <dc:subject>PptxGenJS Presentation</dc:subject>
  <dc:creator>PptxGenJS</dc:creator>
  <cp:lastModifiedBy>Viyaa M</cp:lastModifiedBy>
  <cp:revision>3</cp:revision>
  <dcterms:created xsi:type="dcterms:W3CDTF">2026-10-14T06:59:40Z</dcterms:created>
  <dcterms:modified xsi:type="dcterms:W3CDTF">2026-10-14T07:08:30Z</dcterms:modified>
</cp:coreProperties>
</file>